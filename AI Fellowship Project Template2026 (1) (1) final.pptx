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7" r:id="rId3"/>
    <p:sldId id="258" r:id="rId4"/>
    <p:sldId id="259" r:id="rId5"/>
    <p:sldId id="260" r:id="rId6"/>
    <p:sldId id="269" r:id="rId7"/>
    <p:sldId id="270" r:id="rId8"/>
    <p:sldId id="261" r:id="rId9"/>
    <p:sldId id="262" r:id="rId10"/>
    <p:sldId id="263" r:id="rId11"/>
    <p:sldId id="264" r:id="rId12"/>
    <p:sldId id="265" r:id="rId13"/>
    <p:sldId id="266" r:id="rId14"/>
  </p:sldIdLst>
  <p:sldSz cx="9144000" cy="5143500" type="screen16x9"/>
  <p:notesSz cx="5143500" cy="9144000"/>
  <p:custDataLst>
    <p:tags r:id="rId16"/>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132" y="-174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907763" y="4492214"/>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881680" y="4631466"/>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KRUPA SOLANKI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2365278" y="446426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5041386" y="4486503"/>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5033495" y="4602508"/>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krupa111666@gmail.com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4588444" y="4490592"/>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33281" y="4518004"/>
            <a:ext cx="2274629" cy="371540"/>
            <a:chOff x="3092417" y="4431240"/>
            <a:chExt cx="2274629" cy="371540"/>
          </a:xfrm>
        </p:grpSpPr>
        <p:sp>
          <p:nvSpPr>
            <p:cNvPr id="67" name="TextBox 41">
              <a:extLst>
                <a:ext uri="{FF2B5EF4-FFF2-40B4-BE49-F238E27FC236}">
                  <a16:creationId xmlns:a16="http://schemas.microsoft.com/office/drawing/2014/main" id="{5FE6F280-D970-382B-5260-25E219F86722}"/>
                </a:ext>
              </a:extLst>
            </p:cNvPr>
            <p:cNvSpPr txBox="1"/>
            <p:nvPr/>
          </p:nvSpPr>
          <p:spPr>
            <a:xfrm>
              <a:off x="3092417" y="4431240"/>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094175" y="4575345"/>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364882" y="4490592"/>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45" name="TextBox 44">
            <a:extLst>
              <a:ext uri="{FF2B5EF4-FFF2-40B4-BE49-F238E27FC236}">
                <a16:creationId xmlns:a16="http://schemas.microsoft.com/office/drawing/2014/main" id="{DD623DBB-682E-79EE-240B-1C9E24D422A3}"/>
              </a:ext>
            </a:extLst>
          </p:cNvPr>
          <p:cNvSpPr txBox="1"/>
          <p:nvPr/>
        </p:nvSpPr>
        <p:spPr>
          <a:xfrm>
            <a:off x="173754" y="3492881"/>
            <a:ext cx="5972212" cy="461665"/>
          </a:xfrm>
          <a:prstGeom prst="rect">
            <a:avLst/>
          </a:prstGeom>
          <a:noFill/>
        </p:spPr>
        <p:txBody>
          <a:bodyPr wrap="none" rtlCol="0">
            <a:spAutoFit/>
          </a:bodyPr>
          <a:lstStyle/>
          <a:p>
            <a:r>
              <a:rPr lang="en-IN" sz="2400" dirty="0" err="1">
                <a:solidFill>
                  <a:srgbClr val="002060"/>
                </a:solidFill>
              </a:rPr>
              <a:t>Selflogic</a:t>
            </a:r>
            <a:r>
              <a:rPr lang="en-IN" sz="2400" dirty="0">
                <a:solidFill>
                  <a:srgbClr val="002060"/>
                </a:solidFill>
              </a:rPr>
              <a:t>- slow moving inventory risk detection</a:t>
            </a: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46432"/>
            <a:ext cx="5002346" cy="2862322"/>
          </a:xfrm>
          <a:prstGeom prst="rect">
            <a:avLst/>
          </a:prstGeom>
          <a:noFill/>
        </p:spPr>
        <p:txBody>
          <a:bodyPr wrap="square">
            <a:spAutoFit/>
          </a:bodyPr>
          <a:lstStyle/>
          <a:p>
            <a:r>
              <a:rPr lang="en-US" dirty="0"/>
              <a:t>This project focuses on analyzing inventory data to identify slow-moving and high-risk products. The dataset was cleaned and processed using Excel, and an interactive dashboard was created using Power BI to visualize insights.</a:t>
            </a:r>
          </a:p>
          <a:p>
            <a:endParaRPr lang="en-US" dirty="0"/>
          </a:p>
          <a:p>
            <a:r>
              <a:rPr lang="en-US" b="1" dirty="0"/>
              <a:t>Key Highlights:</a:t>
            </a:r>
            <a:endParaRPr lang="en-US" dirty="0"/>
          </a:p>
          <a:p>
            <a:r>
              <a:rPr lang="en-US" dirty="0"/>
              <a:t>Identifies high-risk inventory </a:t>
            </a:r>
          </a:p>
          <a:p>
            <a:r>
              <a:rPr lang="en-US" dirty="0"/>
              <a:t>Uses Excel &amp; Power BI </a:t>
            </a:r>
          </a:p>
          <a:p>
            <a:r>
              <a:rPr lang="en-US" dirty="0"/>
              <a:t>Supports better decision-making </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1" y="1050198"/>
            <a:ext cx="4762910" cy="2308324"/>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a:t>Managing inventory efficiently is a major challenge for businesses, especially in identifying slow-moving and high-risk products. Traditional methods lack intelligent insights and real-time analysis. There is a need for a system that integrates data analysis with AI-based support to improve decision-making in inventory management.</a:t>
            </a: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8116AA5E-DADB-0311-6B9F-7B3DCEE8280C}"/>
              </a:ext>
            </a:extLst>
          </p:cNvPr>
          <p:cNvSpPr txBox="1"/>
          <p:nvPr/>
        </p:nvSpPr>
        <p:spPr>
          <a:xfrm>
            <a:off x="125486" y="1020020"/>
            <a:ext cx="4572000" cy="2862322"/>
          </a:xfrm>
          <a:prstGeom prst="rect">
            <a:avLst/>
          </a:prstGeom>
          <a:noFill/>
        </p:spPr>
        <p:txBody>
          <a:bodyPr wrap="square">
            <a:spAutoFit/>
          </a:bodyPr>
          <a:lstStyle/>
          <a:p>
            <a:r>
              <a:rPr lang="en-US" dirty="0"/>
              <a:t>The proposed solution involves cleaning and analyzing inventory data using Excel, where key metrics such as turnover ratio and risk levels are calculated. The processed data is then visualized through an interactive dashboard in Power BI. AI tools like ChatGPT and Copilot were used for guidance during the project. This solution helps in identifying high-risk and slow-moving products, enabling better and faster decision-making.</a:t>
            </a:r>
            <a:endParaRPr lang="en-IN"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C6B239-0264-1F12-E1EC-770794308D84}"/>
              </a:ext>
            </a:extLst>
          </p:cNvPr>
          <p:cNvSpPr txBox="1"/>
          <p:nvPr/>
        </p:nvSpPr>
        <p:spPr>
          <a:xfrm>
            <a:off x="109138" y="579299"/>
            <a:ext cx="4572000" cy="461665"/>
          </a:xfrm>
          <a:prstGeom prst="rect">
            <a:avLst/>
          </a:prstGeom>
          <a:noFill/>
        </p:spPr>
        <p:txBody>
          <a:bodyPr wrap="square">
            <a:spAutoFit/>
          </a:bodyPr>
          <a:lstStyle/>
          <a:p>
            <a:r>
              <a:rPr lang="en-IN" sz="2400" dirty="0">
                <a:ln w="0"/>
                <a:solidFill>
                  <a:schemeClr val="accent1">
                    <a:lumMod val="75000"/>
                  </a:schemeClr>
                </a:solidFill>
                <a:effectLst>
                  <a:outerShdw blurRad="38100" dist="25400" dir="5400000" algn="ctr" rotWithShape="0">
                    <a:srgbClr val="6E747A">
                      <a:alpha val="43000"/>
                    </a:srgbClr>
                  </a:outerShdw>
                </a:effectLst>
              </a:rPr>
              <a:t>Inventory Pyramid</a:t>
            </a:r>
          </a:p>
        </p:txBody>
      </p:sp>
      <p:sp>
        <p:nvSpPr>
          <p:cNvPr id="5" name="TextBox 4">
            <a:extLst>
              <a:ext uri="{FF2B5EF4-FFF2-40B4-BE49-F238E27FC236}">
                <a16:creationId xmlns:a16="http://schemas.microsoft.com/office/drawing/2014/main" id="{6F4DD026-6F19-7DB5-4EC1-7A42DC6B76FE}"/>
              </a:ext>
            </a:extLst>
          </p:cNvPr>
          <p:cNvSpPr txBox="1"/>
          <p:nvPr/>
        </p:nvSpPr>
        <p:spPr>
          <a:xfrm>
            <a:off x="150434" y="1163606"/>
            <a:ext cx="4572000" cy="1015663"/>
          </a:xfrm>
          <a:prstGeom prst="rect">
            <a:avLst/>
          </a:prstGeom>
          <a:noFill/>
        </p:spPr>
        <p:txBody>
          <a:bodyPr wrap="square">
            <a:spAutoFit/>
          </a:bodyPr>
          <a:lstStyle/>
          <a:p>
            <a:pPr>
              <a:buFont typeface="Arial" panose="020B0604020202020204" pitchFamily="34" charset="0"/>
              <a:buChar char="•"/>
            </a:pPr>
            <a:r>
              <a:rPr lang="en-US" sz="2000" dirty="0"/>
              <a:t>High Risk → Slow-moving products </a:t>
            </a:r>
          </a:p>
          <a:p>
            <a:pPr>
              <a:buFont typeface="Arial" panose="020B0604020202020204" pitchFamily="34" charset="0"/>
              <a:buChar char="•"/>
            </a:pPr>
            <a:r>
              <a:rPr lang="en-US" sz="2000" dirty="0"/>
              <a:t>Medium Risk → Moderate movement </a:t>
            </a:r>
          </a:p>
          <a:p>
            <a:pPr>
              <a:buFont typeface="Arial" panose="020B0604020202020204" pitchFamily="34" charset="0"/>
              <a:buChar char="•"/>
            </a:pPr>
            <a:r>
              <a:rPr lang="en-US" sz="2000" dirty="0"/>
              <a:t>Low Risk → Fast-moving products </a:t>
            </a:r>
          </a:p>
        </p:txBody>
      </p:sp>
    </p:spTree>
    <p:extLst>
      <p:ext uri="{BB962C8B-B14F-4D97-AF65-F5344CB8AC3E}">
        <p14:creationId xmlns:p14="http://schemas.microsoft.com/office/powerpoint/2010/main" val="678180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CA6106-62CF-FEF4-FB16-5931449177CF}"/>
              </a:ext>
            </a:extLst>
          </p:cNvPr>
          <p:cNvSpPr txBox="1"/>
          <p:nvPr/>
        </p:nvSpPr>
        <p:spPr>
          <a:xfrm>
            <a:off x="156333" y="502608"/>
            <a:ext cx="4572000" cy="461665"/>
          </a:xfrm>
          <a:prstGeom prst="rect">
            <a:avLst/>
          </a:prstGeom>
          <a:noFill/>
        </p:spPr>
        <p:txBody>
          <a:bodyPr wrap="square">
            <a:spAutoFit/>
          </a:bodyPr>
          <a:lstStyle/>
          <a:p>
            <a:r>
              <a:rPr lang="en-US" sz="2400" dirty="0">
                <a:solidFill>
                  <a:schemeClr val="accent1">
                    <a:lumMod val="75000"/>
                  </a:schemeClr>
                </a:solidFill>
              </a:rPr>
              <a:t>AI Tool Used – Copilot Studio</a:t>
            </a:r>
            <a:endParaRPr lang="en-IN" sz="2400" dirty="0">
              <a:solidFill>
                <a:schemeClr val="accent1">
                  <a:lumMod val="75000"/>
                </a:schemeClr>
              </a:solidFill>
            </a:endParaRPr>
          </a:p>
        </p:txBody>
      </p:sp>
      <p:sp>
        <p:nvSpPr>
          <p:cNvPr id="7" name="TextBox 6">
            <a:extLst>
              <a:ext uri="{FF2B5EF4-FFF2-40B4-BE49-F238E27FC236}">
                <a16:creationId xmlns:a16="http://schemas.microsoft.com/office/drawing/2014/main" id="{A9B66D71-EBFD-51EE-02A6-8DF8A7194202}"/>
              </a:ext>
            </a:extLst>
          </p:cNvPr>
          <p:cNvSpPr txBox="1"/>
          <p:nvPr/>
        </p:nvSpPr>
        <p:spPr>
          <a:xfrm>
            <a:off x="103238" y="1140551"/>
            <a:ext cx="4572000" cy="2031325"/>
          </a:xfrm>
          <a:prstGeom prst="rect">
            <a:avLst/>
          </a:prstGeom>
          <a:noFill/>
        </p:spPr>
        <p:txBody>
          <a:bodyPr wrap="square">
            <a:spAutoFit/>
          </a:bodyPr>
          <a:lstStyle/>
          <a:p>
            <a:r>
              <a:rPr lang="en-US" dirty="0"/>
              <a:t>Microsoft Copilot Studio was used as an AI support tool in this project. It helped in understanding data analysis concepts, improving workflow, and assisting in report and presentation creation. The use of AI enhanced efficiency and made the project development process more effective.</a:t>
            </a:r>
            <a:endParaRPr lang="en-IN" dirty="0"/>
          </a:p>
        </p:txBody>
      </p:sp>
    </p:spTree>
    <p:extLst>
      <p:ext uri="{BB962C8B-B14F-4D97-AF65-F5344CB8AC3E}">
        <p14:creationId xmlns:p14="http://schemas.microsoft.com/office/powerpoint/2010/main" val="1835477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03988" y="1685772"/>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DD23E446-DC43-7D8E-32D3-845AA9EF1E81}"/>
              </a:ext>
            </a:extLst>
          </p:cNvPr>
          <p:cNvSpPr txBox="1"/>
          <p:nvPr/>
        </p:nvSpPr>
        <p:spPr>
          <a:xfrm>
            <a:off x="98248" y="1611614"/>
            <a:ext cx="4572000" cy="1200329"/>
          </a:xfrm>
          <a:prstGeom prst="rect">
            <a:avLst/>
          </a:prstGeom>
          <a:noFill/>
        </p:spPr>
        <p:txBody>
          <a:bodyPr wrap="square">
            <a:spAutoFit/>
          </a:bodyPr>
          <a:lstStyle/>
          <a:p>
            <a:r>
              <a:rPr lang="en-US" dirty="0"/>
              <a:t>The dataset includes product details such as stock quantity, sales, price, supplier, and customer ratings. The data is created and managed in Excel</a:t>
            </a:r>
            <a:endParaRPr lang="en-IN" dirty="0"/>
          </a:p>
        </p:txBody>
      </p:sp>
      <p:sp>
        <p:nvSpPr>
          <p:cNvPr id="22" name="TextBox 21">
            <a:extLst>
              <a:ext uri="{FF2B5EF4-FFF2-40B4-BE49-F238E27FC236}">
                <a16:creationId xmlns:a16="http://schemas.microsoft.com/office/drawing/2014/main" id="{C3231A92-FA79-5579-256C-B85342068B96}"/>
              </a:ext>
            </a:extLst>
          </p:cNvPr>
          <p:cNvSpPr txBox="1"/>
          <p:nvPr/>
        </p:nvSpPr>
        <p:spPr>
          <a:xfrm>
            <a:off x="4555948" y="1590672"/>
            <a:ext cx="4572000" cy="1200329"/>
          </a:xfrm>
          <a:prstGeom prst="rect">
            <a:avLst/>
          </a:prstGeom>
          <a:noFill/>
        </p:spPr>
        <p:txBody>
          <a:bodyPr wrap="square">
            <a:spAutoFit/>
          </a:bodyPr>
          <a:lstStyle/>
          <a:p>
            <a:r>
              <a:rPr lang="en-US" dirty="0"/>
              <a:t>Data cleaning, transformation, and calculation of turnover ratio are performed in Excel. Risk levels are categorized into high, medium, and low based on performance</a:t>
            </a:r>
            <a:endParaRPr lang="en-IN" dirty="0"/>
          </a:p>
        </p:txBody>
      </p:sp>
      <p:sp>
        <p:nvSpPr>
          <p:cNvPr id="24" name="TextBox 23">
            <a:extLst>
              <a:ext uri="{FF2B5EF4-FFF2-40B4-BE49-F238E27FC236}">
                <a16:creationId xmlns:a16="http://schemas.microsoft.com/office/drawing/2014/main" id="{26D6FFA3-52A5-4F78-EAED-20AE5779467B}"/>
              </a:ext>
            </a:extLst>
          </p:cNvPr>
          <p:cNvSpPr txBox="1"/>
          <p:nvPr/>
        </p:nvSpPr>
        <p:spPr>
          <a:xfrm>
            <a:off x="189688" y="3431575"/>
            <a:ext cx="4572000" cy="1200329"/>
          </a:xfrm>
          <a:prstGeom prst="rect">
            <a:avLst/>
          </a:prstGeom>
          <a:noFill/>
        </p:spPr>
        <p:txBody>
          <a:bodyPr wrap="square">
            <a:spAutoFit/>
          </a:bodyPr>
          <a:lstStyle/>
          <a:p>
            <a:r>
              <a:rPr lang="en-US" dirty="0"/>
              <a:t>Tools like Excel and Microsoft Power BI are used for analysis and visualization. Power BI provides interactive dashboards with charts, KPIs, and slicers.</a:t>
            </a:r>
            <a:endParaRPr lang="en-IN" dirty="0"/>
          </a:p>
        </p:txBody>
      </p:sp>
      <p:sp>
        <p:nvSpPr>
          <p:cNvPr id="26" name="TextBox 25">
            <a:extLst>
              <a:ext uri="{FF2B5EF4-FFF2-40B4-BE49-F238E27FC236}">
                <a16:creationId xmlns:a16="http://schemas.microsoft.com/office/drawing/2014/main" id="{E33D5034-AC02-DA8F-808E-D65F2F4D4A06}"/>
              </a:ext>
            </a:extLst>
          </p:cNvPr>
          <p:cNvSpPr txBox="1"/>
          <p:nvPr/>
        </p:nvSpPr>
        <p:spPr>
          <a:xfrm>
            <a:off x="4555948" y="3400898"/>
            <a:ext cx="4572000" cy="923330"/>
          </a:xfrm>
          <a:prstGeom prst="rect">
            <a:avLst/>
          </a:prstGeom>
          <a:noFill/>
        </p:spPr>
        <p:txBody>
          <a:bodyPr wrap="square">
            <a:spAutoFit/>
          </a:bodyPr>
          <a:lstStyle/>
          <a:p>
            <a:r>
              <a:rPr lang="en-US"/>
              <a:t>The final output is a dashboard that includes KPIs, charts, and filters to analyze inventory performance and risk levels</a:t>
            </a:r>
            <a:endParaRPr lang="en-IN"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r>
              <a:rPr lang="en-IN" dirty="0">
                <a:latin typeface="Lato" panose="020F0502020204030203" pitchFamily="34" charset="0"/>
              </a:rPr>
              <a:t>dataset</a:t>
            </a: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r>
              <a:rPr lang="en-IN" sz="1000" dirty="0">
                <a:latin typeface="Lato" panose="020F0502020204030203" pitchFamily="34" charset="0"/>
              </a:rPr>
              <a:t>Clean dataset</a:t>
            </a: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76288" y="1648237"/>
            <a:ext cx="1371600" cy="1371600"/>
          </a:xfrm>
          <a:prstGeom prst="ellipse">
            <a:avLst/>
          </a:prstGeom>
          <a:solidFill>
            <a:srgbClr val="1565C0"/>
          </a:solidFill>
          <a:ln w="38100">
            <a:solidFill>
              <a:srgbClr val="FFFFFF"/>
            </a:solidFill>
            <a:prstDash val="solid"/>
          </a:ln>
        </p:spPr>
        <p:txBody>
          <a:bodyPr/>
          <a:lstStyle/>
          <a:p>
            <a:r>
              <a:rPr lang="en-IN" sz="1200" dirty="0">
                <a:latin typeface="Lato" panose="020F0502020204030203" pitchFamily="34" charset="0"/>
              </a:rPr>
              <a:t>dashboard</a:t>
            </a: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DD0CD7EE-D750-B768-4B8D-F8CBA1CEA726}"/>
              </a:ext>
            </a:extLst>
          </p:cNvPr>
          <p:cNvPicPr>
            <a:picLocks noChangeAspect="1"/>
          </p:cNvPicPr>
          <p:nvPr/>
        </p:nvPicPr>
        <p:blipFill>
          <a:blip r:embed="rId4"/>
          <a:stretch>
            <a:fillRect/>
          </a:stretch>
        </p:blipFill>
        <p:spPr>
          <a:xfrm>
            <a:off x="538209" y="2502507"/>
            <a:ext cx="2269777" cy="2131937"/>
          </a:xfrm>
          <a:prstGeom prst="rect">
            <a:avLst/>
          </a:prstGeom>
        </p:spPr>
      </p:pic>
      <p:pic>
        <p:nvPicPr>
          <p:cNvPr id="8" name="Picture 7">
            <a:extLst>
              <a:ext uri="{FF2B5EF4-FFF2-40B4-BE49-F238E27FC236}">
                <a16:creationId xmlns:a16="http://schemas.microsoft.com/office/drawing/2014/main" id="{EBE7F1EB-830F-1A56-2A46-2C356DA64D20}"/>
              </a:ext>
            </a:extLst>
          </p:cNvPr>
          <p:cNvPicPr>
            <a:picLocks noChangeAspect="1"/>
          </p:cNvPicPr>
          <p:nvPr/>
        </p:nvPicPr>
        <p:blipFill>
          <a:blip r:embed="rId5"/>
          <a:stretch>
            <a:fillRect/>
          </a:stretch>
        </p:blipFill>
        <p:spPr>
          <a:xfrm>
            <a:off x="3449783" y="2502507"/>
            <a:ext cx="2360788" cy="2131938"/>
          </a:xfrm>
          <a:prstGeom prst="rect">
            <a:avLst/>
          </a:prstGeom>
        </p:spPr>
      </p:pic>
      <p:pic>
        <p:nvPicPr>
          <p:cNvPr id="22" name="Picture 21">
            <a:extLst>
              <a:ext uri="{FF2B5EF4-FFF2-40B4-BE49-F238E27FC236}">
                <a16:creationId xmlns:a16="http://schemas.microsoft.com/office/drawing/2014/main" id="{B0AC4E2D-4E10-0CFE-0E43-CDFDA69FF896}"/>
              </a:ext>
            </a:extLst>
          </p:cNvPr>
          <p:cNvPicPr>
            <a:picLocks noChangeAspect="1"/>
          </p:cNvPicPr>
          <p:nvPr/>
        </p:nvPicPr>
        <p:blipFill>
          <a:blip r:embed="rId6"/>
          <a:stretch>
            <a:fillRect/>
          </a:stretch>
        </p:blipFill>
        <p:spPr>
          <a:xfrm>
            <a:off x="6391953" y="2425016"/>
            <a:ext cx="2340567" cy="2209429"/>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r>
              <a:rPr lang="en-IN" sz="1000" dirty="0"/>
              <a:t>https://drive.google.com/file/d/1fIB-vVBzII-oBPBW7fUvcKi33HVnxi5x/view?usp=drive_link</a:t>
            </a:r>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8408" y="583853"/>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63A30E25-336E-E718-3308-0AAD407F47F4}"/>
              </a:ext>
            </a:extLst>
          </p:cNvPr>
          <p:cNvSpPr txBox="1"/>
          <p:nvPr/>
        </p:nvSpPr>
        <p:spPr>
          <a:xfrm>
            <a:off x="123849" y="1022582"/>
            <a:ext cx="4572000" cy="3693319"/>
          </a:xfrm>
          <a:prstGeom prst="rect">
            <a:avLst/>
          </a:prstGeom>
          <a:noFill/>
        </p:spPr>
        <p:txBody>
          <a:bodyPr wrap="square">
            <a:spAutoFit/>
          </a:bodyPr>
          <a:lstStyle/>
          <a:p>
            <a:r>
              <a:rPr lang="en-US" dirty="0"/>
              <a:t>This project successfully accomplished the objective of analyzing inventory data to identify high-risk and slow-moving products. Key results include the calculation of turnover ratios, classification of products into different risk levels, and the development of an interactive Power BI dashboard for clear visualization. The findings highlight how data-driven insights can improve inventory tracking and decision-making. All project objectives were achieved, and this solution adds value by providing a simple, efficient, and visual approach to inventory management.</a:t>
            </a:r>
            <a:endParaRPr lang="en-IN"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023D842C-66D6-0545-5582-8C78B172C269}"/>
              </a:ext>
            </a:extLst>
          </p:cNvPr>
          <p:cNvSpPr txBox="1"/>
          <p:nvPr/>
        </p:nvSpPr>
        <p:spPr>
          <a:xfrm>
            <a:off x="123247" y="1048948"/>
            <a:ext cx="4572000" cy="2862322"/>
          </a:xfrm>
          <a:prstGeom prst="rect">
            <a:avLst/>
          </a:prstGeom>
          <a:noFill/>
        </p:spPr>
        <p:txBody>
          <a:bodyPr wrap="square">
            <a:spAutoFit/>
          </a:bodyPr>
          <a:lstStyle/>
          <a:p>
            <a:r>
              <a:rPr lang="en-US" dirty="0"/>
              <a:t>This project can be further enhanced by integrating advanced AI and machine learning techniques for predictive analysis of inventory trends. Additional features such as real-time data integration, automated alerts for high-risk products, and mobile-friendly dashboards can be implemented. The system can also be scaled for larger datasets and integrated with business management software to improve overall efficiency and decision-making.</a:t>
            </a:r>
            <a:endParaRPr lang="en-IN"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716</Words>
  <Application>Microsoft Office PowerPoint</Application>
  <PresentationFormat>On-screen Show (16:9)</PresentationFormat>
  <Paragraphs>77</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mayur solanki</cp:lastModifiedBy>
  <cp:revision>30</cp:revision>
  <dcterms:created xsi:type="dcterms:W3CDTF">2026-02-18T09:17:23Z</dcterms:created>
  <dcterms:modified xsi:type="dcterms:W3CDTF">2026-04-09T15:47:18Z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